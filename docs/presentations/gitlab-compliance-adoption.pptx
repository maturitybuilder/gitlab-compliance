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B5A0"/>
                </a:solidFill>
                <a:latin typeface="Calibri"/>
              </a:rPr>
              <a:t>PLATFORM ADOPTION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Adopting GitLab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5D4DC"/>
                </a:solidFill>
                <a:latin typeface="Calibri"/>
              </a:rPr>
              <a:t>Catch pipeline misconfigurations before merge — with readable policies teams can share.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MaturityBuilder  ·  gitlab-compliance</a:t>
            </a:r>
          </a:p>
          <a:p>
            <a:r>
              <a:rPr sz="1300" b="0">
                <a:solidFill>
                  <a:srgbClr val="2AB5A0"/>
                </a:solidFill>
                <a:latin typeface="Calibri"/>
              </a:rPr>
              <a:t>BDD compliance testing &amp; pipeline documentation for GitLab CI/CD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B5A0"/>
                </a:solidFill>
                <a:latin typeface="Calibri"/>
              </a:rPr>
              <a:t>What we will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E7A"/>
                </a:solidFill>
                <a:latin typeface="Calibri"/>
              </a:rPr>
              <a:t>gitlab-compliance  ·  MaturityBuilder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E7A"/>
                </a:solidFill>
                <a:latin typeface="Calibri"/>
              </a:rPr>
              <a:t>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C3E4A"/>
                </a:solidFill>
                <a:latin typeface="Calibri"/>
              </a:rPr>
              <a:t>1.  Why pipeline compliance matters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C3E4A"/>
                </a:solidFill>
                <a:latin typeface="Calibri"/>
              </a:rPr>
              <a:t>2.  What gitlab-compliance delivers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C3E4A"/>
                </a:solidFill>
                <a:latin typeface="Calibri"/>
              </a:rPr>
              <a:t>3.  Two workflows: check &amp; generate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C3E4A"/>
                </a:solidFill>
                <a:latin typeface="Calibri"/>
              </a:rPr>
              <a:t>4.  How adoption works in practice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C3E4A"/>
                </a:solidFill>
                <a:latin typeface="Calibri"/>
              </a:rPr>
              <a:t>5.  Rollout stages from pilot to org-wide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C3E4A"/>
                </a:solidFill>
                <a:latin typeface="Calibri"/>
              </a:rPr>
              <a:t>6.  Integration patterns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B5A0"/>
                </a:solidFill>
                <a:latin typeface="Calibri"/>
              </a:rPr>
              <a:t>CI configuration risk is easy to miss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E7A"/>
                </a:solidFill>
                <a:latin typeface="Calibri"/>
              </a:rPr>
              <a:t>gitlab-compliance  ·  MaturityBuilder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E7A"/>
                </a:solidFill>
                <a:latin typeface="Calibri"/>
              </a:rPr>
              <a:t>3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53949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109728" cy="1828800"/>
          </a:xfrm>
          <a:prstGeom prst="rect">
            <a:avLst/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A3D"/>
                </a:solidFill>
                <a:latin typeface="Calibri"/>
              </a:rPr>
              <a:t>Floating tags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23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Jobs using :latest or unpinned includes introduce unpredictable builds and supply-chain risk.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45920"/>
            <a:ext cx="53949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645920"/>
            <a:ext cx="109728" cy="182880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920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A3D"/>
                </a:solidFill>
                <a:latin typeface="Calibri"/>
              </a:rPr>
              <a:t>Policy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423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Standards live in wikis and reviews — not enforced consistently across projects.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49039"/>
            <a:ext cx="53949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49039"/>
            <a:ext cx="109728" cy="1828800"/>
          </a:xfrm>
          <a:prstGeom prst="rect">
            <a:avLst/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2335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A3D"/>
                </a:solidFill>
                <a:latin typeface="Calibri"/>
              </a:rPr>
              <a:t>Late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26279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Misconfigurations often surface after merge, or in production incidents.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53949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749039"/>
            <a:ext cx="109728" cy="182880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02335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A3D"/>
                </a:solidFill>
                <a:latin typeface="Calibri"/>
              </a:rPr>
              <a:t>Shared language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526279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Security and delivery teams struggle to agree on rules that developers can act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gitlab-compliance?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B5A0"/>
                </a:solidFill>
                <a:latin typeface="Calibri"/>
              </a:rPr>
              <a:t>Open, portable BDD checks for GitLab 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E7A"/>
                </a:solidFill>
                <a:latin typeface="Calibri"/>
              </a:rPr>
              <a:t>gitlab-compliance  ·  MaturityBuilder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E7A"/>
                </a:solidFill>
                <a:latin typeface="Calibri"/>
              </a:rPr>
              <a:t>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4A"/>
                </a:solidFill>
                <a:latin typeface="Calibri"/>
              </a:rPr>
              <a:t>A Python CLI that runs readable Gherkin policies against .gitlab-ci.yml — before merge.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4A"/>
                </a:solidFill>
                <a:latin typeface="Calibri"/>
              </a:rPr>
              <a:t>Negative testing: prove configuration does not violate your standards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4A"/>
                </a:solidFill>
                <a:latin typeface="Calibri"/>
              </a:rPr>
              <a:t>Plain-language policies developers and security can share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4A"/>
                </a:solidFill>
                <a:latin typeface="Calibri"/>
              </a:rPr>
              <a:t>Works offline on YAML; optional GitLab API for project settings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4A"/>
                </a:solidFill>
                <a:latin typeface="Calibri"/>
              </a:rPr>
              <a:t>Inspired by terraform-compliance — familiar for platform teams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4A"/>
                </a:solidFill>
                <a:latin typeface="Calibri"/>
              </a:rPr>
              <a:t>Integrates with GitLab CI, GitHub Actions, and pre-commit hooks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adopt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B5A0"/>
                </a:solidFill>
                <a:latin typeface="Calibri"/>
              </a:rPr>
              <a:t>Business outcomes, not just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E7A"/>
                </a:solidFill>
                <a:latin typeface="Calibri"/>
              </a:rPr>
              <a:t>gitlab-compliance  ·  MaturityBuilder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E7A"/>
                </a:solidFill>
                <a:latin typeface="Calibri"/>
              </a:rPr>
              <a:t>5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3657600" cy="9144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Fewer surprises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Block risky pipeline changes in merge requests, not after release.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3657600" cy="9144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Faster reviews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Automated checks reduce manual YAML scrutiny and rework.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60020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600200"/>
            <a:ext cx="3657600" cy="9144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Shared ownership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Gherkin scenarios create a common language for risk.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9476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657600" cy="9144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14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Segregation of duty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17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Keep policies in a separate repo or OCI registry.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79476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794760"/>
            <a:ext cx="3657600" cy="9144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114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Clear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17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Console, Markdown, HTML, MR comments, and Code Quality reports.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379476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3794760"/>
            <a:ext cx="3657600" cy="9144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114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Living documentation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617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Generate pipeline reference docs from the same YAML.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Two workflows from one pipeline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B5A0"/>
                </a:solidFill>
                <a:latin typeface="Calibri"/>
              </a:rPr>
              <a:t>Compliance and documentation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E7A"/>
                </a:solidFill>
                <a:latin typeface="Calibri"/>
              </a:rPr>
              <a:t>gitlab-compliance  ·  MaturityBuilder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E7A"/>
                </a:solidFill>
                <a:latin typeface="Calibri"/>
              </a:rPr>
              <a:t>6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52120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5212080" cy="64008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check  — 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2C3E4A"/>
                </a:solidFill>
                <a:latin typeface="Calibri"/>
              </a:rPr>
              <a:t>Author Gherkin .feature policies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C3E4A"/>
                </a:solidFill>
                <a:latin typeface="Calibri"/>
              </a:rPr>
              <a:t>Point at .gitlab-ci.yml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C3E4A"/>
                </a:solidFill>
                <a:latin typeface="Calibri"/>
              </a:rPr>
              <a:t>Optionally check GitLab API settings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C3E4A"/>
                </a:solidFill>
                <a:latin typeface="Calibri"/>
              </a:rPr>
              <a:t>Fail the job on violations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C3E4A"/>
                </a:solidFill>
                <a:latin typeface="Calibri"/>
              </a:rPr>
              <a:t>Report: console · markdown · html · MR · codequality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45920"/>
            <a:ext cx="52120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645920"/>
            <a:ext cx="5212080" cy="640080"/>
          </a:xfrm>
          <a:prstGeom prst="rect">
            <a:avLst/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generate  —  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51460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2C3E4A"/>
                </a:solidFill>
                <a:latin typeface="Calibri"/>
              </a:rPr>
              <a:t>Build Markdown or HTML reference docs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C3E4A"/>
                </a:solidFill>
                <a:latin typeface="Calibri"/>
              </a:rPr>
              <a:t>Filter and group jobs by stage or attribute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C3E4A"/>
                </a:solidFill>
                <a:latin typeface="Calibri"/>
              </a:rPr>
              <a:t>Keep pipeline knowledge up to date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C3E4A"/>
                </a:solidFill>
                <a:latin typeface="Calibri"/>
              </a:rPr>
              <a:t>Share readable CI docs with non-YAML experts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C3E4A"/>
                </a:solidFill>
                <a:latin typeface="Calibri"/>
              </a:rPr>
              <a:t>Same source of truth as compliance checks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Policies people can 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B5A0"/>
                </a:solidFill>
                <a:latin typeface="Calibri"/>
              </a:rPr>
              <a:t>Gherkin scenarios as the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E7A"/>
                </a:solidFill>
                <a:latin typeface="Calibri"/>
              </a:rPr>
              <a:t>gitlab-compliance  ·  MaturityBuilder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E7A"/>
                </a:solidFill>
                <a:latin typeface="Calibri"/>
              </a:rPr>
              <a:t>7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4A"/>
                </a:solidFill>
                <a:latin typeface="Calibri"/>
              </a:rPr>
              <a:t>Example: no job may use a floating latest image tag.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109728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10972800" cy="73152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104241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D8A7A"/>
                </a:solidFill>
                <a:latin typeface="Consolas"/>
              </a:rPr>
              <a:t>Given I have any job defined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D8A7A"/>
                </a:solidFill>
                <a:latin typeface="Consolas"/>
              </a:rPr>
              <a:t>When it has image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D8A7A"/>
                </a:solidFill>
                <a:latin typeface="Consolas"/>
              </a:rPr>
              <a:t>Then its image must not match ":latest$"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5A6E7A"/>
                </a:solidFill>
                <a:latin typeface="Consolas"/>
              </a:rPr>
              <a:t># Runs in CI against .gitlab-ci.yml (and local includes)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5A6E7A"/>
                </a:solidFill>
                <a:latin typeface="Consolas"/>
              </a:rPr>
              <a:t># Merge requests cannot introduce this class of violation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Adoption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B5A0"/>
                </a:solidFill>
                <a:latin typeface="Calibri"/>
              </a:rPr>
              <a:t>Start small, then scale with 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E7A"/>
                </a:solidFill>
                <a:latin typeface="Calibri"/>
              </a:rPr>
              <a:t>gitlab-compliance  ·  MaturityBuilder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E7A"/>
                </a:solidFill>
                <a:latin typeface="Calibri"/>
              </a:rPr>
              <a:t>8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640080" cy="50292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0992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618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9202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One team, a few high-value policies (image pinning, include versions).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39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514599"/>
            <a:ext cx="640080" cy="50292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78607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48716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Warn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788919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Run in CI with allow_failure: true — surface findings without blocking.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4612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83280"/>
            <a:ext cx="640080" cy="50292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4728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355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Enforce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657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Remove allow_failure once baselines are fixed; gate merge requests.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11480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251960"/>
            <a:ext cx="640080" cy="50292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31596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224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Centralise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526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Version policies in a security repo or OCI registry.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83479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5120639"/>
            <a:ext cx="640080" cy="50292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184647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0932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Org-wide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394959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Inject via Pipeline Execution Policy across groups.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Where it fits in your delivery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B5A0"/>
                </a:solidFill>
                <a:latin typeface="Calibri"/>
              </a:rPr>
              <a:t>Integration patterns that stick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E7A"/>
                </a:solidFill>
                <a:latin typeface="Calibri"/>
              </a:rPr>
              <a:t>gitlab-compliance  ·  MaturityBuilder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E7A"/>
                </a:solidFill>
                <a:latin typeface="Calibri"/>
              </a:rPr>
              <a:t>9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109728" cy="196596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3D"/>
                </a:solidFill>
                <a:latin typeface="Calibri"/>
              </a:rPr>
              <a:t>Local &amp; pre-commit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Developers run checks before push; fast feedback on laptop.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109728" cy="196596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3D"/>
                </a:solidFill>
                <a:latin typeface="Calibri"/>
              </a:rPr>
              <a:t>Project CI job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68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Add a compliance job on MRs and the default branch.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60020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600200"/>
            <a:ext cx="109728" cy="196596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3D"/>
                </a:solidFill>
                <a:latin typeface="Calibri"/>
              </a:rPr>
              <a:t>Shared job templates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468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Reuse .compliance:offline / :api / :codequality / :oci.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9476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109728" cy="196596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3D"/>
                </a:solidFill>
                <a:latin typeface="Calibri"/>
              </a:rPr>
              <a:t>Central include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63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Distribute versioned jobs + policies from a security project.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79476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794760"/>
            <a:ext cx="109728" cy="196596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3D"/>
                </a:solidFill>
                <a:latin typeface="Calibri"/>
              </a:rPr>
              <a:t>OCI policy packs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663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Publish immutable bundles; consumers pull with --update.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379476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3794760"/>
            <a:ext cx="109728" cy="196596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3D"/>
                </a:solidFill>
                <a:latin typeface="Calibri"/>
              </a:rPr>
              <a:t>Pipeline Execution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663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4A"/>
                </a:solidFill>
                <a:latin typeface="Calibri"/>
              </a:rPr>
              <a:t>Org-wide injection for GitLab Ultimate groups.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Quick start for a pilot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B5A0"/>
                </a:solidFill>
                <a:latin typeface="Calibri"/>
              </a:rPr>
              <a:t>Minutes to first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E7A"/>
                </a:solidFill>
                <a:latin typeface="Calibri"/>
              </a:rPr>
              <a:t>gitlab-compliance  ·  MaturityBuilder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E7A"/>
                </a:solidFill>
                <a:latin typeface="Calibri"/>
              </a:rPr>
              <a:t>10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822960" cy="68580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1907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00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Install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9202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E7A"/>
                </a:solidFill>
                <a:latin typeface="Calibri"/>
              </a:rPr>
              <a:t>pip install gitlab-compliance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23160"/>
            <a:ext cx="822960" cy="68580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8775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68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Copy starter policies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7889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E7A"/>
                </a:solidFill>
                <a:latin typeface="Calibri"/>
              </a:rPr>
              <a:t>cp -r examples/example-policies/security/ policies/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91839"/>
            <a:ext cx="822960" cy="68580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56431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3375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Run a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657599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E7A"/>
                </a:solidFill>
                <a:latin typeface="Calibri"/>
              </a:rPr>
              <a:t>gitlab-compliance check -f policies/ -p .gitlab-ci.yml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160520"/>
            <a:ext cx="822960" cy="68580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2511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Add a CI job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526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E7A"/>
                </a:solidFill>
                <a:latin typeface="Calibri"/>
              </a:rPr>
              <a:t>Fail MRs on violations; start with allow_failure if needed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029200"/>
            <a:ext cx="822960" cy="68580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9379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074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Document pipelines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394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E7A"/>
                </a:solidFill>
                <a:latin typeface="Calibri"/>
              </a:rPr>
              <a:t>gitlab-compliance generate -i .gitlab-ci.yml -o pipeline-reference.md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73152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to know adoption is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B5A0"/>
                </a:solidFill>
                <a:latin typeface="Calibri"/>
              </a:rPr>
              <a:t>Simple measures that 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E7A"/>
                </a:solidFill>
                <a:latin typeface="Calibri"/>
              </a:rPr>
              <a:t>gitlab-compliance  ·  MaturityBuilder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E7A"/>
                </a:solidFill>
                <a:latin typeface="Calibri"/>
              </a:rPr>
              <a:t>11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8A7A"/>
                </a:solidFill>
                <a:latin typeface="Calibri"/>
              </a:rPr>
              <a:t>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% of active projects with compliance jobs enabled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8A7A"/>
                </a:solidFill>
                <a:latin typeface="Calibri"/>
              </a:rPr>
              <a:t>Prevention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Policy violations caught in MRs vs after merge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8A7A"/>
                </a:solidFill>
                <a:latin typeface="Calibri"/>
              </a:rPr>
              <a:t>Time to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Average time from first warning to policy-compliant YAML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01752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246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8A7A"/>
                </a:solidFill>
                <a:latin typeface="Calibri"/>
              </a:rPr>
              <a:t>Policy maturity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657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Shared central pack version in use across teams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8056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8A7A"/>
                </a:solidFill>
                <a:latin typeface="Calibri"/>
              </a:rPr>
              <a:t>Clarity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Teams can explain failed scenarios without reading CLI source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48056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709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8A7A"/>
                </a:solidFill>
                <a:latin typeface="Calibri"/>
              </a:rPr>
              <a:t>Doc freshness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120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4A"/>
                </a:solidFill>
                <a:latin typeface="Calibri"/>
              </a:rPr>
              <a:t>Pipeline reference docs regenerate on each meaningful change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1.  Pick one pilot project and enable warn-only compliance in CI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2.  Adopt starter security policies (image / include / component pinning)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3.  Agree a date to switch from warn to enforce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4.  Plan central policy ownership (security repo or OCI pack)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5.  Share generated pipeline docs with delivery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AB5A0"/>
                </a:solidFill>
                <a:latin typeface="Calibri"/>
              </a:rPr>
              <a:t>Docs: https://maturitybuilder.github.io/gitlab-compliance/</a:t>
            </a:r>
          </a:p>
          <a:p>
            <a:r>
              <a:rPr sz="1300" b="0">
                <a:solidFill>
                  <a:srgbClr val="A8BEC8"/>
                </a:solidFill>
                <a:latin typeface="Calibri"/>
              </a:rPr>
              <a:t>PyPI: pip install gitlab-compliance   ·   Source: github.com/MaturityBuilder/gitlab-compliance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
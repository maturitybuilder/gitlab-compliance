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173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CA094"/>
                </a:solidFill>
                <a:latin typeface="Calibri"/>
              </a:rPr>
              <a:t>IMPACT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Finding CI tech debt before</a:t>
            </a:r>
            <a:br/>
            <a:r>
              <a:rPr sz="3400" b="1">
                <a:solidFill>
                  <a:srgbClr val="FFFFFF"/>
                </a:solidFill>
                <a:latin typeface="Calibri"/>
              </a:rPr>
              <a:t>GitLab Dedicated &amp; Nexus harden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0D0D8"/>
                </a:solidFill>
                <a:latin typeface="Calibri"/>
              </a:rPr>
              <a:t>Check, shell scans, supply-chain remediations, and documentation create visibility for migration — and easy-to-understand policies keep standards alive after cutover.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gitlab-compliance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CA094"/>
                </a:solidFill>
                <a:latin typeface="Calibri"/>
              </a:rPr>
              <a:t>Focus: check · shell scan · supply chain · document · readable policies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Presentation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Impact first — then the four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2A3B46"/>
                </a:solidFill>
                <a:latin typeface="Calibri"/>
              </a:rPr>
              <a:t>1.  Business drivers: GitLab Dedicated migration + Nexus compliance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A3B46"/>
                </a:solidFill>
                <a:latin typeface="Calibri"/>
              </a:rPr>
              <a:t>2.  What tech debt looks like in pipeline YAML today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A3B46"/>
                </a:solidFill>
                <a:latin typeface="Calibri"/>
              </a:rPr>
              <a:t>3.  Capability map: check · shell scan · supply chain · document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A3B46"/>
                </a:solidFill>
                <a:latin typeface="Calibri"/>
              </a:rPr>
              <a:t>4.  Ongoing standards via easy-to-understand Gherkin policies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A3B46"/>
                </a:solidFill>
                <a:latin typeface="Calibri"/>
              </a:rPr>
              <a:t>5.  Deep dive on each capability and the outcome it creates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A3B46"/>
                </a:solidFill>
                <a:latin typeface="Calibri"/>
              </a:rPr>
              <a:t>6.  End-to-end debt discovery → remediate → prove → maintain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A3B46"/>
                </a:solidFill>
                <a:latin typeface="Calibri"/>
              </a:rPr>
              <a:t>7.  Recommended rollout for migration programmes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this matters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Two demands that expose hidden pipeline debt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508760"/>
            <a:ext cx="5394960" cy="5943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276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GitLab Dedicated migration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Need a clear inventory of CI configuration risk before cutover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Floating tags and unpinned includes break predictability on new runners/registries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Migration windows favour known debt over surprise failures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Stakeholders need readable evidence of readiness — not YAML archaeology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0876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508760"/>
            <a:ext cx="5394960" cy="59436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Nexus compliance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3317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Approved artefact sources and immutable pins become mandatory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:latest and unversioned includes conflict with Nexus controls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Digest pinning and release-lag policies prove control effectiveness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Auto-fix MRs shorten the gap between finding and closing debt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Tech debt we need to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Typical CI debt that blocks migration and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278892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Mutable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:latest / untagged images — non-reproducible builds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146304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463040"/>
            <a:ext cx="278892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737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Unpinned includes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3317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project/component refs on main or floating tags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46304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463040"/>
            <a:ext cx="278892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Stale supply chain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317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Includes / images lagging beyond agreed windows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6304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463040"/>
            <a:ext cx="278892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73736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Weak execution guards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3317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Jobs missing rules: — accidental production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70332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703320"/>
            <a:ext cx="2788920" cy="9144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9776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Template bypass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720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Jobs not extending org-standard CI templates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370332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83280" y="3703320"/>
            <a:ext cx="2788920" cy="9144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6160" y="39776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Undocumented pipelines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45720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No living reference for Dedicated cutover reviews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370332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3703320"/>
            <a:ext cx="2788920" cy="9144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9776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API setting gaps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5720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Unmasked variables / risky project settings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3703320"/>
            <a:ext cx="278892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35440" y="3703320"/>
            <a:ext cx="2788920" cy="9144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39776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230"/>
                </a:solidFill>
                <a:latin typeface="Calibri"/>
              </a:rPr>
              <a:t>Policy drift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57200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3B46"/>
                </a:solidFill>
                <a:latin typeface="Calibri"/>
              </a:rPr>
              <a:t>Standards only in wikis — not enforced in MR gates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Capability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Find debt now — keep standards clear afterwards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10972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371600"/>
            <a:ext cx="2194560" cy="822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4813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Fail or report when Gherkin policies are violated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81051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6B63"/>
                </a:solidFill>
                <a:latin typeface="Calibri"/>
              </a:rPr>
              <a:t>Impact: Find debt with evidence (file:line)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2267712"/>
            <a:ext cx="10972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267712"/>
            <a:ext cx="2194560" cy="822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4963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Shell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3774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Run the same check from a laptop/CI shell across repos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270662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6B63"/>
                </a:solidFill>
                <a:latin typeface="Calibri"/>
              </a:rPr>
              <a:t>Impact: Inventory debt before Dedicated cutover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163824"/>
            <a:ext cx="10972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3163824"/>
            <a:ext cx="2194560" cy="822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3924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Supply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32735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--fix-supply-chain / --fix-policies / --create-mr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60273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6B63"/>
                </a:solidFill>
                <a:latin typeface="Calibri"/>
              </a:rPr>
              <a:t>Impact: Close Nexus-related pin &amp; version debt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059935"/>
            <a:ext cx="10972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4059935"/>
            <a:ext cx="2194560" cy="822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88535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169663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generate + document gitstrings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4498847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6B63"/>
                </a:solidFill>
                <a:latin typeface="Calibri"/>
              </a:rPr>
              <a:t>Impact: Expose pipeline shape for migration reviews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4956048"/>
            <a:ext cx="10972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956048"/>
            <a:ext cx="2194560" cy="82296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846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Policies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50657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Gherkin scenarios shared by security and 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53949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6B63"/>
                </a:solidFill>
                <a:latin typeface="Calibri"/>
              </a:rPr>
              <a:t>Impact: Maintain ongoing standards without wiki drift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Ongoing standards — written so people understand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Gherkin policies stay the living contract after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6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A3B46"/>
                </a:solidFill>
                <a:latin typeface="Calibri"/>
              </a:rPr>
              <a:t>Migration finds debt once. Readable policies keep the same rules enforceable every merge.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20240"/>
            <a:ext cx="548640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03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Why easy-to-understand policies matter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5176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2A3B46"/>
                </a:solidFill>
                <a:latin typeface="Calibri"/>
              </a:rPr>
              <a:t>Security and delivery share one language — not buried YAML lore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A3B46"/>
                </a:solidFill>
                <a:latin typeface="Calibri"/>
              </a:rPr>
              <a:t>New Nexus / Dedicated rules are written as scenarios, not slides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A3B46"/>
                </a:solidFill>
                <a:latin typeface="Calibri"/>
              </a:rPr>
              <a:t>Policy packs version in a repo or OCI registry — segregation of duty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A3B46"/>
                </a:solidFill>
                <a:latin typeface="Calibri"/>
              </a:rPr>
              <a:t>Metadata IDs and titles make audit findings explainable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2A3B46"/>
                </a:solidFill>
                <a:latin typeface="Calibri"/>
              </a:rPr>
              <a:t>Standards survive staff change because the contract is in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920240"/>
            <a:ext cx="5303520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920240"/>
            <a:ext cx="5303520" cy="73152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148840"/>
            <a:ext cx="4846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E707A"/>
                </a:solidFill>
                <a:latin typeface="Consolas"/>
              </a:rPr>
              <a:t># Anyone can read the standard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02230"/>
                </a:solidFill>
                <a:latin typeface="Consolas"/>
              </a:rPr>
              <a:t>Scenario: Job images must not use latest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A6B63"/>
                </a:solidFill>
                <a:latin typeface="Consolas"/>
              </a:rPr>
              <a:t>  Given I have any job defined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A6B63"/>
                </a:solidFill>
                <a:latin typeface="Consolas"/>
              </a:rPr>
              <a:t>  When it has image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A6B63"/>
                </a:solidFill>
                <a:latin typeface="Consolas"/>
              </a:rPr>
              <a:t>  Then its image must not match ":latest$"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E707A"/>
                </a:solidFill>
                <a:latin typeface="Consolas"/>
              </a:rPr>
              <a:t># METADATA keeps ownership clear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E707A"/>
                </a:solidFill>
                <a:latin typeface="Consolas"/>
              </a:rPr>
              <a:t># title: Disallow latest image tags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E707A"/>
                </a:solidFill>
                <a:latin typeface="Consolas"/>
              </a:rPr>
              <a:t># custom.id: GLCI-IMAGE-PINNING-001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E707A"/>
                </a:solidFill>
                <a:latin typeface="Consolas"/>
              </a:rPr>
              <a:t># custom.severity: HIGH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check — find debt with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gitlab-compliance check -f policies/ -p .gitlab-ci.yml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7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Runs readable Gherkin policies against pipeline YAML (and optional GitLab API settings)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Reports violations with path:line so teams can act without guessing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Output formats that fit migration programmes: console, markdown, HTML, MR comment, Code Quality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Warn-only first (allow_failure), then enforce — same readable policies, stronger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657600"/>
            <a:ext cx="109728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Migration / Nexus / ongoing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519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Creates a repeatable readiness scorecard per project before Dedicated move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Makes Nexus pin/version expectations testable — not a spreadsheet exercise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The same easy-to-read policies keep standards enforced after cutover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Shell scan — inventory before you migrate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Local CLI sweeps across repositories (same engine as 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8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There is no separate “shellcheck” product mode — impact comes from running check in the shell to discover debt at scale.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011680"/>
            <a:ext cx="109728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10424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E707A"/>
                </a:solidFill>
                <a:latin typeface="Consolas"/>
              </a:rPr>
              <a:t># Example: scan a clone for supply-chain and pin debt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A3B46"/>
                </a:solidFill>
                <a:latin typeface="Consolas"/>
              </a:rPr>
              <a:t>pip install gitlab-compliance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6B63"/>
                </a:solidFill>
                <a:latin typeface="Consolas"/>
              </a:rPr>
              <a:t>gitlab-compliance check -f policies/security/ -p .gitlab-ci.yml \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A6B63"/>
                </a:solidFill>
                <a:latin typeface="Consolas"/>
              </a:rPr>
              <a:t>  --format markdown -o COMPLIANCE-REPORT.md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E707A"/>
                </a:solidFill>
                <a:latin typeface="Consolas"/>
              </a:rPr>
              <a:t># Optional: --with-builtin · --project · --strict for API hardening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Platform teams can batch-scan migration cohorts and rank projects by debt severity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Produces artefacts for Dedicated cutover boards and Nexus exception reviews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A3B46"/>
                </a:solidFill>
                <a:latin typeface="Calibri"/>
              </a:rPr>
              <a:t>Same policies later become CI gates — no double standard between discovery and enforcement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Supply chain — close the debt Nexus cares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--fix-supply-chain · --fix-policies · --create-mr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6304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What it finds / 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4028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Detect floating tags, unpinned includes, release lag, digest gaps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Age windows (e.g. 30-day adoption, 90-day lag) for pragmatic upgrades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Pin job/service images to @sha256 digests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Bump outdated project/component include refs to latest semver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91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230"/>
                </a:solidFill>
                <a:latin typeface="Calibri"/>
              </a:rPr>
              <a:t>How it supports programmes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24028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--fix-supply-chain rewrites before policies re-run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--fix-policies remediates allowlisted failed scenarios only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--create-mr opens a reviewable supply-chain fix MR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Scheduled CI job can keep debt from re-accumulating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document / generate — make debt discussable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Living pipeline docs for migration and compliance forums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6304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63040"/>
            <a:ext cx="5394960" cy="5486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727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4028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Full pipeline reference from .gitlab-ci.yml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Formats: markdown, swagger-markdown, HTML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Exclude/group to match audience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Attach as CI artefact for Dedicated review packs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39496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5394960" cy="548640"/>
          </a:xfrm>
          <a:prstGeom prst="rect">
            <a:avLst/>
          </a:prstGeom>
          <a:solidFill>
            <a:srgbClr val="C47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5727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document gitstrings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4028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Fragment docs for inputs, variables, snippets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Decorators in YAML or markdown fences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Keeps READMEs honest without rewriting by hand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2A3B46"/>
                </a:solidFill>
                <a:latin typeface="Calibri"/>
              </a:rPr>
              <a:t>Helps Nexus/security reviewers see intent quickly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Supporting the GitLab Dedicated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From unknown debt → sequenced remediation → cutover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417320"/>
            <a:ext cx="201168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64592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Shell-scan migration cohorts with check; export markdown/HTML debt reports.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28600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286000"/>
            <a:ext cx="201168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Prioritise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51460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Rank projects by supply-chain severity, API gaps, and undocumented pipelines.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15468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154680"/>
            <a:ext cx="201168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Remediate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Use --fix-supply-chain / --fix-policies / --create-mr; review diffs before merge.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023359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023359"/>
            <a:ext cx="201168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51959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251959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generate + gitstrings artefacts for Dedicated readiness packs.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892040"/>
            <a:ext cx="1097280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4892040"/>
            <a:ext cx="201168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120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Maintain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120640"/>
            <a:ext cx="8412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3B46"/>
                </a:solidFill>
                <a:latin typeface="Calibri"/>
              </a:rPr>
              <a:t>Readable Gherkin policies + CI gates keep standards ongoing after cutover.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Supporting Nexus compliance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Prove control: pin, version, lag windows, and remediation trail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2120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97880" y="1371600"/>
            <a:ext cx="5669280" cy="64008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Nexus expectation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5361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gitlab-compliance response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0312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7880" y="210312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Only approved / known artefact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2677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Image + include pinning policies; digest preferred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283464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7880" y="283464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992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No mutable latest tags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99923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Gherkin rules fail :latest; auto-pin to sha256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56616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97880" y="356616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3075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Versions within agreed freshness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730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Release-lag / latest-N / adoption-window scenarios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429768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97880" y="429768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4622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Evidence for audits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44622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Markdown/HTML/Code Quality reports + policy metadata IDs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5029200"/>
            <a:ext cx="52120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97880" y="5029200"/>
            <a:ext cx="5669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937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230"/>
                </a:solidFill>
                <a:latin typeface="Calibri"/>
              </a:rPr>
              <a:t>Sustainable standards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51937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Gherkin policies + scheduled supply-chain fix MRs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End-to-end: discover → fix → prove → maintain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One toolchain across migration, compliance, and ongoing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74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1. Shell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Scan repos; write COMPLIANCE-REPORT.md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55448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874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2. Triage debt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Group by pin / lag / rules / docs gaps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554480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8745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3. Auto-remediate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2316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--fix-supply-chain [--fix-policies]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49039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49039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06907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4. Human 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61771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--create-mr → approve digest/version bumps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749039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3749039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406907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5. Document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61771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generate / document gitstrings for evidence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3749039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3749039"/>
            <a:ext cx="3657600" cy="914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4069079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230"/>
                </a:solidFill>
                <a:latin typeface="Calibri"/>
              </a:rPr>
              <a:t>6. Maintain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61771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policies + CI gates keep standards ongoing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Command cheat 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Copy-ready starting points from product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111556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219456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00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Find debt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544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3B46"/>
                </a:solidFill>
                <a:latin typeface="Calibri"/>
              </a:rPr>
              <a:t>gitlab-compliance check -f policies/security/ -p .gitlab-ci.yml --format markdown -o COMPLIANCE-REPORT.md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0280"/>
            <a:ext cx="111556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240280"/>
            <a:ext cx="219456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688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Strict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4231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3B46"/>
                </a:solidFill>
                <a:latin typeface="Calibri"/>
              </a:rPr>
              <a:t>gitlab-compliance check -f policies/ -p .gitlab-ci.yml --project "$CI_PROJECT_PATH" --strict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111556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219456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37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Supply chain fix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291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3B46"/>
                </a:solidFill>
                <a:latin typeface="Calibri"/>
              </a:rPr>
              <a:t>gitlab-compliance check -f policies/security/ -p .gitlab-ci.yml --fix-supply-chain --create-mr --project "$CI_PROJECT_PATH"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77639"/>
            <a:ext cx="111556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77639"/>
            <a:ext cx="219456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2062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Pipeline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160519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3B46"/>
                </a:solidFill>
                <a:latin typeface="Calibri"/>
              </a:rPr>
              <a:t>gitlab-compliance generate -i .gitlab-ci.yml --format html -o pipeline-reference/index.html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846320"/>
            <a:ext cx="1115568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46320"/>
            <a:ext cx="2194560" cy="77724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074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Fragment 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50292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3B46"/>
                </a:solidFill>
                <a:latin typeface="Calibri"/>
              </a:rPr>
              <a:t>gitlab-compliance document gitstrings -i .gitlab-ci.yml -o README.md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64008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Impact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How programme leads know debt is under control — and stays that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4652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707A"/>
                </a:solidFill>
                <a:latin typeface="Calibri"/>
              </a:rPr>
              <a:t>Impact briefing  ·  Dedicated · Nexus · tech debt · ongoing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4652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E707A"/>
                </a:solidFill>
                <a:latin typeface="Calibri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% projects scanned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Migration cohort coverage via shell/CI 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Open critical findings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688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Unpinned / latest / lag beyond policy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554480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8745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Time to remediate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Finding → merged supply-chain MR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49039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7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Docs freshness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generate artefacts attached to readiness packs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3749039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406907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Policy clarity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634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Teams can explain failed scenarios without YAML experts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749039"/>
            <a:ext cx="3657600" cy="1965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06907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6B63"/>
                </a:solidFill>
                <a:latin typeface="Calibri"/>
              </a:rPr>
              <a:t>Standards stickiness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6634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3B46"/>
                </a:solidFill>
                <a:latin typeface="Calibri"/>
              </a:rPr>
              <a:t>Readable policies enforced after Dedicated cutover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Recommended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5156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1.  Pick the Dedicated migration cohort and run a shell check sweep this week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2.  Baseline against the security policy pack (image / include / lag)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3.  Open supply-chain fix MRs for the highest-severity projects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4.  Publish generate/HTML docs into migration readiness packs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5.  Author Nexus-aligned rules as readable Gherkin — then move CI from warn-only to blocking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CA094"/>
                </a:solidFill>
                <a:latin typeface="Calibri"/>
              </a:rPr>
              <a:t>Docs: maturitybuilder.github.io/gitlab-compliance  ·  pip install gitlab-compliance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